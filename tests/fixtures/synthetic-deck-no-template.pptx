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03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F2A44"/>
                </a:solidFill>
                <a:latin typeface="Helvetica"/>
              </a:rPr>
              <a:t>Q1 portfolio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A5160"/>
                </a:solidFill>
                <a:latin typeface="Helvetica"/>
              </a:rPr>
              <a:t>Where we are, where we're going.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03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F2A44"/>
                </a:solidFill>
                <a:latin typeface="Helvetica"/>
              </a:rPr>
              <a:t>Q2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A5160"/>
                </a:solidFill>
                <a:latin typeface="Helvetica"/>
              </a:rPr>
              <a:t>Three commitments and a wildcard.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44"/>
                </a:solidFill>
                <a:latin typeface="Helvetica"/>
              </a:rPr>
              <a:t>What's 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44"/>
                </a:solidFill>
                <a:latin typeface="Helvetica"/>
              </a:rPr>
              <a:t>Pipeline velocity
Up 18% QoQ. Sales cycle compressed by 9 days.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44"/>
                </a:solidFill>
                <a:latin typeface="Helvetica"/>
              </a:rPr>
              <a:t>Customer NPS
Holding at 58. Inbound expansion outpacing churn.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64592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44"/>
                </a:solidFill>
                <a:latin typeface="Helvetica"/>
              </a:rPr>
              <a:t>Hiring
Closed 7 of 9 open roles. Strong inbound.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44"/>
                </a:solidFill>
                <a:latin typeface="Helvetica"/>
              </a:rPr>
              <a:t>Three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44"/>
                </a:solidFill>
                <a:latin typeface="Helvetica"/>
              </a:rPr>
              <a:t>Concentration
Top 5 customers = 41% of revenue. Single dependency.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44"/>
                </a:solidFill>
                <a:latin typeface="Helvetica"/>
              </a:rPr>
              <a:t>Org load
Eng + design carrying 2x prior load. Burnout risk.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64592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44"/>
                </a:solidFill>
                <a:latin typeface="Helvetica"/>
              </a:rPr>
              <a:t>Competitive
Two well-funded entrants. 12-month window.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459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0" b="1">
                <a:solidFill>
                  <a:srgbClr val="E2A03F"/>
                </a:solidFill>
                <a:latin typeface="Helvetica"/>
              </a:rPr>
              <a:t>47%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A44"/>
                </a:solidFill>
                <a:latin typeface="Helvetica"/>
              </a:rPr>
              <a:t>growth in active accounts, year over year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459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0" b="1">
                <a:solidFill>
                  <a:srgbClr val="E2A03F"/>
                </a:solidFill>
                <a:latin typeface="Helvetica"/>
              </a:rPr>
              <a:t>$8.2M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A44"/>
                </a:solidFill>
                <a:latin typeface="Helvetica"/>
              </a:rPr>
              <a:t>in net new ARR this quarter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1F2A44"/>
                </a:solidFill>
                <a:latin typeface="Helvetica"/>
              </a:rPr>
              <a:t>I knew the date picker existed. I just couldn't tell from the docs whether it handled our case. So I rebuilt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A5160"/>
                </a:solidFill>
                <a:latin typeface="Helvetica"/>
              </a:rPr>
              <a:t>Senior engineer, consumer team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1F2A44"/>
                </a:solidFill>
                <a:latin typeface="Helvetica"/>
              </a:rPr>
              <a:t>The clearest signal from the user research was that no one read the onboarding email.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A5160"/>
                </a:solidFill>
                <a:latin typeface="Helvetica"/>
              </a:rPr>
              <a:t>Product manager,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